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9093F8-4C51-4CF2-9B4F-BBECEC4969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C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D6FA4A-0739-4A8F-95D3-91277ED1D8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CB8368-51A4-42EC-8F83-F008D94B26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7B876D-460F-4EA1-AA61-998FC54665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ACE2B1-D733-4592-8607-49A59EB262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C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E5CE06-CA46-415A-BFA0-A5905014E5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BB2244-E73C-4D7C-AA73-1149B724A5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EDB33A-5CBD-4FF6-9486-1A2906C9D8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8DE8C6-468E-43AD-878B-582AAAE060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11F4CE-899D-42A9-9129-9AC25EDBB9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CFD553-BBA5-4AB1-82EC-8DB5A95FB4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C8200B-5472-4597-B5A0-6FBA1E0409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6C12BE-8018-46BA-932D-31EADDBF6F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C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36AE61-5CEB-4DBC-888D-FDFEC60211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298D04-97AD-466F-B68A-C615064D72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5EA90E-8A9F-4A0E-BAEB-8FF48C105D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086048-2CAF-4856-98C6-7531D1DF4B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C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0023A-4251-41D4-8740-BE6BAE37E3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DBF471-E645-43DA-9979-F91F89E566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5AB3A8-318F-4105-8671-389067611A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AD57CE-4D52-4CF0-B825-3FAEAFD890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352835-B156-47BF-99AA-A3DE11ED35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F9C08E-0C53-4AC0-807E-E8ED223029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A09166-7336-454C-BD75-1F146BC3CB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C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Calibri Light"/>
              </a:rPr>
              <a:t>Haga clic para modificar el estilo de título del patrón</a:t>
            </a:r>
            <a:endParaRPr b="0" lang="es-EC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s-EC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s-EC" sz="1200" spc="-1" strike="noStrike">
                <a:solidFill>
                  <a:srgbClr val="8b8b8b"/>
                </a:solidFill>
                <a:latin typeface="Calibri"/>
              </a:rPr>
              <a:t>&lt;fecha/hora&gt;</a:t>
            </a:r>
            <a:endParaRPr b="0" lang="es-EC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EC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EC" sz="1400" spc="-1" strike="noStrike">
                <a:latin typeface="Times New Roman"/>
              </a:rPr>
              <a:t>&lt;pie de página&gt;</a:t>
            </a:r>
            <a:endParaRPr b="0" lang="es-EC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s-EC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E14752-0EF1-463B-8FB9-6EB7282AFBEC}" type="slidenum">
              <a:rPr b="0" lang="es-EC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C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8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18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C" sz="18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s-EC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s-EC" sz="1200" spc="-1" strike="noStrike">
                <a:solidFill>
                  <a:srgbClr val="8b8b8b"/>
                </a:solidFill>
                <a:latin typeface="Calibri"/>
              </a:rPr>
              <a:t>&lt;fecha/hora&gt;</a:t>
            </a:r>
            <a:endParaRPr b="0" lang="es-EC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EC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EC" sz="1400" spc="-1" strike="noStrike">
                <a:latin typeface="Times New Roman"/>
              </a:rPr>
              <a:t>&lt;pie de página&gt;</a:t>
            </a:r>
            <a:endParaRPr b="0" lang="es-EC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s-EC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42FA58-5C7B-46DB-B8B0-4D377EF1310E}" type="slidenum">
              <a:rPr b="0" lang="es-EC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EC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C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8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C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18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C" sz="18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C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C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C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2"/>
          <p:cNvSpPr/>
          <p:nvPr/>
        </p:nvSpPr>
        <p:spPr>
          <a:xfrm>
            <a:off x="2629080" y="1730520"/>
            <a:ext cx="3124080" cy="7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2060"/>
                </a:solidFill>
                <a:latin typeface="Hubot Sans Bold"/>
                <a:ea typeface="Hubot Sans Bold"/>
              </a:rPr>
              <a:t>MINDKEEP</a:t>
            </a:r>
            <a:endParaRPr b="0" lang="es-EC" sz="4400" spc="-1" strike="noStrike"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496080" y="2729160"/>
            <a:ext cx="720720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000"/>
          </a:bodyPr>
          <a:p>
            <a:pPr algn="just"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Aplicación móvil nativa para la gestión de notas y recordatorios, diseñada con foco en privacidad, rendimiento y experiencia de usuario.</a:t>
            </a:r>
            <a:endParaRPr b="0" lang="es-EC" sz="3200" spc="-1" strike="noStrike">
              <a:latin typeface="Arial"/>
            </a:endParaRPr>
          </a:p>
        </p:txBody>
      </p:sp>
      <p:pic>
        <p:nvPicPr>
          <p:cNvPr id="84" name="Imagen 6" descr=""/>
          <p:cNvPicPr/>
          <p:nvPr/>
        </p:nvPicPr>
        <p:blipFill>
          <a:blip r:embed="rId1"/>
          <a:stretch/>
        </p:blipFill>
        <p:spPr>
          <a:xfrm>
            <a:off x="7942320" y="525960"/>
            <a:ext cx="2895120" cy="580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2"/>
          <p:cNvSpPr/>
          <p:nvPr/>
        </p:nvSpPr>
        <p:spPr>
          <a:xfrm>
            <a:off x="678960" y="1071360"/>
            <a:ext cx="1102500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UNA SOLUCIÓN NATIVA PARA LA GESTIÓN DE TAREAS</a:t>
            </a:r>
            <a:endParaRPr b="0" lang="es-EC" sz="3200" spc="-1" strike="noStrike"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394200" y="3141360"/>
            <a:ext cx="5069160" cy="2298960"/>
          </a:xfrm>
          <a:prstGeom prst="roundRect">
            <a:avLst>
              <a:gd name="adj" fmla="val 1402"/>
            </a:avLst>
          </a:prstGeom>
          <a:solidFill>
            <a:srgbClr val="1e1e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4"/>
          <p:cNvSpPr/>
          <p:nvPr/>
        </p:nvSpPr>
        <p:spPr>
          <a:xfrm>
            <a:off x="535680" y="3268800"/>
            <a:ext cx="4710240" cy="19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33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8f8f7"/>
                </a:solidFill>
                <a:latin typeface="Roboto Condensed Bold"/>
                <a:ea typeface="Roboto Condensed Bold"/>
              </a:rPr>
              <a:t>Objetivo</a:t>
            </a:r>
            <a:endParaRPr b="0" lang="es-EC" sz="1800" spc="-1" strike="noStrike">
              <a:latin typeface="Arial"/>
            </a:endParaRPr>
          </a:p>
          <a:p>
            <a:pPr algn="just"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8f8f7"/>
                </a:solidFill>
                <a:latin typeface="Roboto Condensed"/>
                <a:ea typeface="Roboto Condensed"/>
              </a:rPr>
              <a:t>Desarrollar una solución nativa en Android que optimice la gestión de tareas diarias mediante una interfaz limpia, persistencia local y notificaciones programadas.</a:t>
            </a:r>
            <a:endParaRPr b="0" lang="es-EC" sz="1800" spc="-1" strike="noStrike">
              <a:latin typeface="Arial"/>
            </a:endParaRPr>
          </a:p>
        </p:txBody>
      </p:sp>
      <p:sp>
        <p:nvSpPr>
          <p:cNvPr id="88" name="CuadroTexto 7"/>
          <p:cNvSpPr/>
          <p:nvPr/>
        </p:nvSpPr>
        <p:spPr>
          <a:xfrm>
            <a:off x="5738040" y="3141360"/>
            <a:ext cx="5918040" cy="30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33000"/>
              </a:lnSpc>
              <a:spcAft>
                <a:spcPts val="1001"/>
              </a:spcAft>
              <a:buNone/>
            </a:pPr>
            <a:r>
              <a:rPr b="1" lang="en-US" sz="1800" spc="-1" strike="noStrike">
                <a:solidFill>
                  <a:srgbClr val="55575a"/>
                </a:solidFill>
                <a:latin typeface="Roboto Condensed Bold"/>
                <a:ea typeface="Roboto Condensed Bold"/>
              </a:rPr>
              <a:t>Valor diferencial</a:t>
            </a:r>
            <a:endParaRPr b="0" lang="es-EC" sz="1800" spc="-1" strike="noStrike">
              <a:latin typeface="Arial"/>
            </a:endParaRPr>
          </a:p>
          <a:p>
            <a:pPr algn="just">
              <a:lnSpc>
                <a:spcPct val="133000"/>
              </a:lnSpc>
              <a:buNone/>
            </a:pPr>
            <a:r>
              <a:rPr b="0" lang="en-US" sz="18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Una herramienta ligera, eficiente y centrada en la experiencia de usuario, construida sin dependencias externas.</a:t>
            </a:r>
            <a:endParaRPr b="0" lang="es-EC" sz="1800" spc="-1" strike="noStrike">
              <a:latin typeface="Arial"/>
            </a:endParaRPr>
          </a:p>
          <a:p>
            <a:pPr algn="just">
              <a:lnSpc>
                <a:spcPct val="133000"/>
              </a:lnSpc>
              <a:buNone/>
            </a:pPr>
            <a:r>
              <a:rPr b="0" lang="en-US" sz="18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Todo el almacenamiento y la lógica residen en el dispositivo, garantizando privacidad y autonomía total.</a:t>
            </a:r>
            <a:endParaRPr b="0" lang="es-EC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s-EC" sz="2000" spc="-1" strike="noStrike"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884880" y="2133720"/>
            <a:ext cx="277236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1e1e1a"/>
                </a:solidFill>
                <a:latin typeface="Roboto Condensed"/>
                <a:ea typeface="Roboto Condensed"/>
              </a:rPr>
              <a:t>RESUMEN EJECUTIVO</a:t>
            </a:r>
            <a:endParaRPr b="0" lang="es-EC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2"/>
          <p:cNvSpPr/>
          <p:nvPr/>
        </p:nvSpPr>
        <p:spPr>
          <a:xfrm>
            <a:off x="1856160" y="2029680"/>
            <a:ext cx="8151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9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7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EL RETO DE LA SOBRECARGA INFORMATIVA</a:t>
            </a:r>
            <a:endParaRPr b="0" lang="es-EC" sz="2750" spc="-1" strike="noStrike"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581040" y="932760"/>
            <a:ext cx="152172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e1e1a"/>
                </a:solidFill>
                <a:latin typeface="Roboto Condensed"/>
                <a:ea typeface="Roboto Condensed"/>
              </a:rPr>
              <a:t>PROBLEMÁTICA</a:t>
            </a:r>
            <a:endParaRPr b="0" lang="es-EC" sz="1600" spc="-1" strike="noStrike"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3082680" y="3286800"/>
            <a:ext cx="1699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1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2017080" y="37476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CONTEXTO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2017080" y="4053960"/>
            <a:ext cx="230076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8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Saturación de información en el ámbito académico y profesional dificulta el seguimiento de tareas y compromisos prioritarios.</a:t>
            </a:r>
            <a:endParaRPr b="0" lang="es-EC" sz="1100" spc="-1" strike="noStrike"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5847120" y="3286800"/>
            <a:ext cx="1699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2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4781520" y="37476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DIFICULTAD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4781520" y="4053960"/>
            <a:ext cx="2300760" cy="6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2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Pérdida de plazos y compromisos por la ausencia de herramientas organizativas accesibles, ligeras y fiables.</a:t>
            </a:r>
            <a:endParaRPr b="0" lang="es-EC" sz="1100" spc="-1" strike="noStrike"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8611560" y="3286800"/>
            <a:ext cx="1699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0000"/>
                </a:solidFill>
                <a:latin typeface="Hubot Sans Bold"/>
                <a:ea typeface="Hubot Sans Bold"/>
              </a:rPr>
              <a:t>3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7545960" y="374760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LIMITACIÓN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7545960" y="4053960"/>
            <a:ext cx="230076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2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Las aplicaciones comerciales consumen exceso de recursos, solicitan permisos innecesarios y comprometen la privacidad del usuario.</a:t>
            </a:r>
            <a:endParaRPr b="0" lang="es-EC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"/>
          <p:cNvSpPr/>
          <p:nvPr/>
        </p:nvSpPr>
        <p:spPr>
          <a:xfrm>
            <a:off x="6095880" y="1267920"/>
            <a:ext cx="10929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SOLUCIÓN</a:t>
            </a:r>
            <a:endParaRPr b="0" lang="es-EC" sz="1800" spc="-1" strike="noStrike"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6095880" y="1731600"/>
            <a:ext cx="472248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7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MINDKEEP:</a:t>
            </a:r>
            <a:endParaRPr b="0" lang="es-EC" sz="2750" spc="-1" strike="noStrike">
              <a:latin typeface="Arial"/>
            </a:endParaRPr>
          </a:p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7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DEFENSA EN PROFUNDIDAD</a:t>
            </a:r>
            <a:endParaRPr b="0" lang="es-EC" sz="2750" spc="-1" strike="noStrike"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6095880" y="2994840"/>
            <a:ext cx="4722480" cy="20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8000"/>
          </a:bodyPr>
          <a:p>
            <a:pPr algn="just">
              <a:lnSpc>
                <a:spcPct val="133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5575a"/>
                </a:solidFill>
                <a:latin typeface="Roboto Condensed Bold"/>
                <a:ea typeface="Roboto Condensed Bold"/>
              </a:rPr>
              <a:t>Propuesta:</a:t>
            </a:r>
            <a:r>
              <a:rPr b="0" lang="en-US" sz="16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 Aplicación nativa Android diseñada bajo el principio de </a:t>
            </a:r>
            <a:r>
              <a:rPr b="0" i="1" lang="en-US" sz="16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Defensa en Profundidad</a:t>
            </a:r>
            <a:r>
              <a:rPr b="0" lang="en-US" sz="16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, donde cada capa del sistema contribuye a la seguridad y estabilidad del conjunto.</a:t>
            </a:r>
            <a:endParaRPr b="0" lang="es-EC" sz="1600" spc="-1" strike="noStrike">
              <a:latin typeface="Arial"/>
            </a:endParaRPr>
          </a:p>
          <a:p>
            <a:pPr algn="just">
              <a:lnSpc>
                <a:spcPct val="133000"/>
              </a:lnSpc>
              <a:buNone/>
              <a:tabLst>
                <a:tab algn="l" pos="0"/>
              </a:tabLst>
            </a:pPr>
            <a:endParaRPr b="0" lang="es-EC" sz="1600" spc="-1" strike="noStrike">
              <a:latin typeface="Arial"/>
            </a:endParaRPr>
          </a:p>
          <a:p>
            <a:pPr algn="just">
              <a:lnSpc>
                <a:spcPct val="133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55575a"/>
                </a:solidFill>
                <a:latin typeface="Roboto Condensed Bold"/>
                <a:ea typeface="Roboto Condensed Bold"/>
              </a:rPr>
              <a:t>Ventaja:</a:t>
            </a:r>
            <a:r>
              <a:rPr b="0" lang="en-US" sz="16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 Persistencia de datos 100% local mediante SQLite, garantizando privacidad y autonomía total frente a servicios en la nube.</a:t>
            </a:r>
            <a:endParaRPr b="0" lang="es-EC" sz="1600" spc="-1" strike="noStrike">
              <a:latin typeface="Arial"/>
            </a:endParaRPr>
          </a:p>
        </p:txBody>
      </p:sp>
      <p:pic>
        <p:nvPicPr>
          <p:cNvPr id="104" name="Imagen 5" descr=""/>
          <p:cNvPicPr/>
          <p:nvPr/>
        </p:nvPicPr>
        <p:blipFill>
          <a:blip r:embed="rId1"/>
          <a:stretch/>
        </p:blipFill>
        <p:spPr>
          <a:xfrm>
            <a:off x="1455840" y="445680"/>
            <a:ext cx="3245400" cy="596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1"/>
          <p:cNvSpPr/>
          <p:nvPr/>
        </p:nvSpPr>
        <p:spPr>
          <a:xfrm>
            <a:off x="723960" y="432360"/>
            <a:ext cx="2205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6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e1e1a"/>
                </a:solidFill>
                <a:latin typeface="Roboto Condensed"/>
                <a:ea typeface="Roboto Condensed"/>
              </a:rPr>
              <a:t>PLATAFORMA TECNOLÓGICA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723960" y="891720"/>
            <a:ext cx="44035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4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STACK DE DESARROLLO</a:t>
            </a:r>
            <a:endParaRPr b="0" lang="es-EC" sz="2450" spc="-1" strike="noStrike">
              <a:latin typeface="Arial"/>
            </a:endParaRPr>
          </a:p>
        </p:txBody>
      </p:sp>
      <p:pic>
        <p:nvPicPr>
          <p:cNvPr id="107" name="Imagen 4" descr=""/>
          <p:cNvPicPr/>
          <p:nvPr/>
        </p:nvPicPr>
        <p:blipFill>
          <a:blip r:embed="rId1"/>
          <a:stretch/>
        </p:blipFill>
        <p:spPr>
          <a:xfrm>
            <a:off x="723960" y="1725840"/>
            <a:ext cx="6144840" cy="4057200"/>
          </a:xfrm>
          <a:prstGeom prst="rect">
            <a:avLst/>
          </a:prstGeom>
          <a:ln w="0">
            <a:noFill/>
          </a:ln>
        </p:spPr>
      </p:pic>
      <p:sp>
        <p:nvSpPr>
          <p:cNvPr id="108" name="Text 3"/>
          <p:cNvSpPr/>
          <p:nvPr/>
        </p:nvSpPr>
        <p:spPr>
          <a:xfrm>
            <a:off x="7834680" y="1725840"/>
            <a:ext cx="6915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KOTLIN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7834680" y="2010240"/>
            <a:ext cx="38005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9000"/>
          </a:bodyPr>
          <a:p>
            <a:pPr>
              <a:lnSpc>
                <a:spcPct val="126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Lenguaje tipado seguro y moderno, base de la lógica de la aplicación.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834680" y="2685600"/>
            <a:ext cx="174312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ANDROID STUDIO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7834680" y="3018960"/>
            <a:ext cx="36327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6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Entorno de desarrollo integrado, objetivo API 34.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7834680" y="3577320"/>
            <a:ext cx="15778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SQLITE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7834680" y="4009320"/>
            <a:ext cx="3800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6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Base de datos embebida para persistencia local sin servidor.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7834680" y="4648320"/>
            <a:ext cx="21931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DISPOSITIVOS ANDROID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7834680" y="5095440"/>
            <a:ext cx="3800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6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Compatible con dispositivos en modo depuración.</a:t>
            </a:r>
            <a:endParaRPr b="0" lang="es-EC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1"/>
          <p:cNvSpPr/>
          <p:nvPr/>
        </p:nvSpPr>
        <p:spPr>
          <a:xfrm>
            <a:off x="766440" y="1142640"/>
            <a:ext cx="341964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e1e1a"/>
                </a:solidFill>
                <a:latin typeface="Roboto Condensed"/>
                <a:ea typeface="Roboto Condensed"/>
              </a:rPr>
              <a:t>ARQUITECTURA LÓGICA</a:t>
            </a:r>
            <a:endParaRPr b="0" lang="es-EC" sz="2000" spc="-1" strike="noStrike"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38560" y="2439720"/>
            <a:ext cx="5427360" cy="241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5000"/>
          </a:bodyPr>
          <a:p>
            <a:pPr algn="just">
              <a:lnSpc>
                <a:spcPct val="100000"/>
              </a:lnSpc>
              <a:spcAft>
                <a:spcPts val="249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La arquitectura de MindKeep se estructura en tres pilares fundamentales que separan responsabilidades de autenticación, persistencia y presentación, asegurando un código mantenible y escalable.</a:t>
            </a:r>
            <a:endParaRPr b="0" lang="es-EC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spcAft>
                <a:spcPts val="249"/>
              </a:spcAft>
              <a:buNone/>
              <a:tabLst>
                <a:tab algn="l" pos="0"/>
              </a:tabLst>
            </a:pPr>
            <a:endParaRPr b="0" lang="es-EC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Cada componente opera de forma autónoma pero coordinada, siguiendo buenas prácticas de diseño en Android.</a:t>
            </a:r>
            <a:endParaRPr b="0" lang="es-EC" sz="1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endParaRPr b="0" lang="es-EC" sz="1800" spc="-1" strike="noStrike">
              <a:latin typeface="Arial"/>
            </a:endParaRPr>
          </a:p>
        </p:txBody>
      </p:sp>
      <p:pic>
        <p:nvPicPr>
          <p:cNvPr id="118" name="Image 0" descr="preencoded.png"/>
          <p:cNvPicPr/>
          <p:nvPr/>
        </p:nvPicPr>
        <p:blipFill>
          <a:blip r:embed="rId1"/>
          <a:stretch/>
        </p:blipFill>
        <p:spPr>
          <a:xfrm>
            <a:off x="6628680" y="1142640"/>
            <a:ext cx="4555080" cy="455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1"/>
          <p:cNvSpPr/>
          <p:nvPr/>
        </p:nvSpPr>
        <p:spPr>
          <a:xfrm>
            <a:off x="1015560" y="828000"/>
            <a:ext cx="156744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e1e1a"/>
                </a:solidFill>
                <a:latin typeface="Roboto Condensed"/>
                <a:ea typeface="Roboto Condensed"/>
              </a:rPr>
              <a:t>REPOSITORIO</a:t>
            </a:r>
            <a:endParaRPr b="0" lang="es-EC" sz="1600" spc="-1" strike="noStrike"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1015560" y="1366560"/>
            <a:ext cx="81522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7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ESTRUCTURA DEL PROYECTO EN GITHUB</a:t>
            </a:r>
            <a:endParaRPr b="0" lang="es-EC" sz="2750" spc="-1" strike="noStrike"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1015560" y="2381400"/>
            <a:ext cx="4802040" cy="3561840"/>
          </a:xfrm>
          <a:prstGeom prst="roundRect">
            <a:avLst>
              <a:gd name="adj" fmla="val 754"/>
            </a:avLst>
          </a:prstGeom>
          <a:solidFill>
            <a:srgbClr val="1e1e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4"/>
          <p:cNvSpPr/>
          <p:nvPr/>
        </p:nvSpPr>
        <p:spPr>
          <a:xfrm>
            <a:off x="1276200" y="2589120"/>
            <a:ext cx="18550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8f8f7"/>
                </a:solidFill>
                <a:latin typeface="Roboto Condensed Bold"/>
                <a:ea typeface="Roboto Condensed Bold"/>
              </a:rPr>
              <a:t>Ruta del repositorio</a:t>
            </a:r>
            <a:endParaRPr b="0" lang="es-EC" sz="1600" spc="-1" strike="noStrike"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1276200" y="2948760"/>
            <a:ext cx="4061160" cy="1257120"/>
          </a:xfrm>
          <a:prstGeom prst="roundRect">
            <a:avLst>
              <a:gd name="adj" fmla="val 2206"/>
            </a:avLst>
          </a:prstGeom>
          <a:solidFill>
            <a:srgbClr val="2b2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7"/>
          <p:cNvSpPr/>
          <p:nvPr/>
        </p:nvSpPr>
        <p:spPr>
          <a:xfrm>
            <a:off x="1565280" y="3088800"/>
            <a:ext cx="348300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8faadc"/>
                </a:solidFill>
                <a:highlight>
                  <a:srgbClr val="2b2b27"/>
                </a:highlight>
                <a:latin typeface="Consolas"/>
                <a:ea typeface="Consolas"/>
              </a:rPr>
              <a:t>https://github.com/JuanDHernandez/Laboratorio-Android/tree/main/MindKeep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1276200" y="4345920"/>
            <a:ext cx="4392720" cy="14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3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8f8f7"/>
                </a:solidFill>
                <a:latin typeface="Roboto Condensed Bold"/>
                <a:ea typeface="Roboto Condensed Bold"/>
              </a:rPr>
              <a:t>Documentación</a:t>
            </a:r>
            <a:endParaRPr b="0" lang="es-EC" sz="16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8f8f7"/>
                </a:solidFill>
                <a:latin typeface="Roboto Condensed"/>
                <a:ea typeface="Roboto Condensed"/>
              </a:rPr>
              <a:t>Archivo README.md centralizado con instrucciones, dependencias y guías de despliegue.</a:t>
            </a:r>
            <a:endParaRPr b="0" lang="es-EC" sz="1600" spc="-1" strike="noStrike"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6583680" y="2592720"/>
            <a:ext cx="2046600" cy="1753200"/>
          </a:xfrm>
          <a:prstGeom prst="roundRect">
            <a:avLst>
              <a:gd name="adj" fmla="val 1558"/>
            </a:avLst>
          </a:prstGeom>
          <a:solidFill>
            <a:srgbClr val="e8e8e3"/>
          </a:solidFill>
          <a:ln w="1905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11"/>
          <p:cNvSpPr/>
          <p:nvPr/>
        </p:nvSpPr>
        <p:spPr>
          <a:xfrm>
            <a:off x="6732360" y="2867400"/>
            <a:ext cx="15584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AVANCES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6732360" y="3237480"/>
            <a:ext cx="1737000" cy="9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4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Carpeta con evidencias gráficas y APKs de prueba listos para revisión.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9168120" y="3560760"/>
            <a:ext cx="2046600" cy="1753200"/>
          </a:xfrm>
          <a:prstGeom prst="roundRect">
            <a:avLst>
              <a:gd name="adj" fmla="val 1558"/>
            </a:avLst>
          </a:prstGeom>
          <a:solidFill>
            <a:srgbClr val="e8e8e3"/>
          </a:solidFill>
          <a:ln w="19050">
            <a:solidFill>
              <a:srgbClr val="c8cac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4"/>
          <p:cNvSpPr/>
          <p:nvPr/>
        </p:nvSpPr>
        <p:spPr>
          <a:xfrm>
            <a:off x="9356760" y="3809880"/>
            <a:ext cx="15584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CÓDIGO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9356760" y="4208760"/>
            <a:ext cx="1819440" cy="9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Jerarquía clara entre clases (.kt) y layouts de interfaz (.xml).</a:t>
            </a:r>
            <a:endParaRPr b="0" lang="es-EC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1"/>
          <p:cNvSpPr/>
          <p:nvPr/>
        </p:nvSpPr>
        <p:spPr>
          <a:xfrm>
            <a:off x="577080" y="430200"/>
            <a:ext cx="157140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e1e1a"/>
                </a:solidFill>
                <a:latin typeface="Roboto Condensed"/>
                <a:ea typeface="Roboto Condensed"/>
              </a:rPr>
              <a:t>EVIDENCIA VISUAL</a:t>
            </a:r>
            <a:endParaRPr b="0" lang="es-EC" sz="1600" spc="-1" strike="noStrike"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1601280" y="788760"/>
            <a:ext cx="898956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LA APLICACIÓN EN FUNCIONAMIENTO</a:t>
            </a:r>
            <a:endParaRPr b="0" lang="es-EC" sz="3600" spc="-1" strike="noStrike"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672120" y="5214960"/>
            <a:ext cx="185796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PANTALLA DE LOGIN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672120" y="5540400"/>
            <a:ext cx="19170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3000"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Acceso seguro con validación local de credenciales.</a:t>
            </a:r>
            <a:endParaRPr b="0" lang="es-EC" sz="1400" spc="-1" strike="noStrike"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3397320" y="5214960"/>
            <a:ext cx="20545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3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DASHBOARD DE NOTAS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3397320" y="5540400"/>
            <a:ext cx="19170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Vista principal con todas las notas organizadas.</a:t>
            </a:r>
            <a:endParaRPr b="0" lang="es-EC" sz="1200" spc="-1" strike="noStrike"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6480000" y="5226480"/>
            <a:ext cx="232056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9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FORMULARIO DE REGISTRO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6480000" y="5551560"/>
            <a:ext cx="232056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Creación y edición de notas con una interfaz intuitiva.</a:t>
            </a:r>
            <a:endParaRPr b="0" lang="es-EC" sz="1200" spc="-1" strike="noStrike"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9632160" y="5180760"/>
            <a:ext cx="2220480" cy="3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9000"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NOTIFICACIÓN EN BARRA</a:t>
            </a:r>
            <a:endParaRPr b="0" lang="es-EC" sz="1300" spc="-1" strike="noStrike"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9602640" y="5505840"/>
            <a:ext cx="222048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Alertas programadas visibles en la barra de estado.</a:t>
            </a:r>
            <a:endParaRPr b="0" lang="es-EC" sz="1200" spc="-1" strike="noStrike">
              <a:latin typeface="Arial"/>
            </a:endParaRPr>
          </a:p>
        </p:txBody>
      </p:sp>
      <p:pic>
        <p:nvPicPr>
          <p:cNvPr id="142" name="Imagen 12" descr=""/>
          <p:cNvPicPr/>
          <p:nvPr/>
        </p:nvPicPr>
        <p:blipFill>
          <a:blip r:embed="rId1"/>
          <a:stretch/>
        </p:blipFill>
        <p:spPr>
          <a:xfrm>
            <a:off x="635760" y="1474200"/>
            <a:ext cx="1917000" cy="3619800"/>
          </a:xfrm>
          <a:prstGeom prst="rect">
            <a:avLst/>
          </a:prstGeom>
          <a:ln w="0">
            <a:noFill/>
          </a:ln>
        </p:spPr>
      </p:pic>
      <p:pic>
        <p:nvPicPr>
          <p:cNvPr id="143" name="Imagen 14" descr=""/>
          <p:cNvPicPr/>
          <p:nvPr/>
        </p:nvPicPr>
        <p:blipFill>
          <a:blip r:embed="rId2"/>
          <a:stretch/>
        </p:blipFill>
        <p:spPr>
          <a:xfrm>
            <a:off x="3408480" y="1474200"/>
            <a:ext cx="2034360" cy="3619800"/>
          </a:xfrm>
          <a:prstGeom prst="rect">
            <a:avLst/>
          </a:prstGeom>
          <a:ln w="0">
            <a:noFill/>
          </a:ln>
        </p:spPr>
      </p:pic>
      <p:pic>
        <p:nvPicPr>
          <p:cNvPr id="144" name="Imagen 16" descr=""/>
          <p:cNvPicPr/>
          <p:nvPr/>
        </p:nvPicPr>
        <p:blipFill>
          <a:blip r:embed="rId3"/>
          <a:stretch/>
        </p:blipFill>
        <p:spPr>
          <a:xfrm>
            <a:off x="6428520" y="1471320"/>
            <a:ext cx="1925280" cy="3619800"/>
          </a:xfrm>
          <a:prstGeom prst="rect">
            <a:avLst/>
          </a:prstGeom>
          <a:ln w="0">
            <a:noFill/>
          </a:ln>
        </p:spPr>
      </p:pic>
      <p:pic>
        <p:nvPicPr>
          <p:cNvPr id="145" name="Imagen 18" descr=""/>
          <p:cNvPicPr/>
          <p:nvPr/>
        </p:nvPicPr>
        <p:blipFill>
          <a:blip r:embed="rId4"/>
          <a:stretch/>
        </p:blipFill>
        <p:spPr>
          <a:xfrm>
            <a:off x="9554760" y="1471320"/>
            <a:ext cx="1925280" cy="361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1"/>
          <p:cNvSpPr/>
          <p:nvPr/>
        </p:nvSpPr>
        <p:spPr>
          <a:xfrm>
            <a:off x="581040" y="505080"/>
            <a:ext cx="13615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CONCLUSIÓN</a:t>
            </a:r>
            <a:endParaRPr b="0" lang="es-EC" sz="1800" spc="-1" strike="noStrike"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81040" y="868680"/>
            <a:ext cx="7419600" cy="44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2750" spc="-1" strike="noStrike">
                <a:solidFill>
                  <a:srgbClr val="0c0d0f"/>
                </a:solidFill>
                <a:latin typeface="Hubot Sans Bold"/>
                <a:ea typeface="Hubot Sans Bold"/>
              </a:rPr>
              <a:t>COMPETENCIAS ADQUIRIDAS E IMPACTO</a:t>
            </a:r>
            <a:endParaRPr b="0" lang="es-EC" sz="2750" spc="-1" strike="noStrike"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1721880" y="210924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IMPACTO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1056960" y="2415600"/>
            <a:ext cx="24364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2000"/>
          </a:bodyPr>
          <a:p>
            <a:pPr algn="r"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Solución práctica para la organización personal académica y profesional.</a:t>
            </a:r>
            <a:endParaRPr b="0" lang="es-EC" sz="1200" spc="-1" strike="noStrike"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1"/>
          <a:stretch/>
        </p:blipFill>
        <p:spPr>
          <a:xfrm>
            <a:off x="4592520" y="2275920"/>
            <a:ext cx="2852640" cy="2852640"/>
          </a:xfrm>
          <a:prstGeom prst="rect">
            <a:avLst/>
          </a:prstGeom>
          <a:ln w="0">
            <a:noFill/>
          </a:ln>
        </p:spPr>
      </p:pic>
      <p:sp>
        <p:nvSpPr>
          <p:cNvPr id="151" name="Text 5"/>
          <p:cNvSpPr/>
          <p:nvPr/>
        </p:nvSpPr>
        <p:spPr>
          <a:xfrm>
            <a:off x="8544240" y="2124360"/>
            <a:ext cx="18723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KOTLIN Y ANDROID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8544240" y="2431080"/>
            <a:ext cx="24364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1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Dominio del lenguaje, arquitectura y ciclo de vida de actividades.</a:t>
            </a:r>
            <a:endParaRPr b="0" lang="es-EC" sz="1200" spc="-1" strike="noStrike">
              <a:latin typeface="Arial"/>
            </a:endParaRPr>
          </a:p>
        </p:txBody>
      </p:sp>
      <p:pic>
        <p:nvPicPr>
          <p:cNvPr id="153" name="Image 2" descr="preencoded.png"/>
          <p:cNvPicPr/>
          <p:nvPr/>
        </p:nvPicPr>
        <p:blipFill>
          <a:blip r:embed="rId2"/>
          <a:stretch/>
        </p:blipFill>
        <p:spPr>
          <a:xfrm>
            <a:off x="4592520" y="2275920"/>
            <a:ext cx="2852640" cy="2852640"/>
          </a:xfrm>
          <a:prstGeom prst="rect">
            <a:avLst/>
          </a:prstGeom>
          <a:ln w="0">
            <a:noFill/>
          </a:ln>
        </p:spPr>
      </p:pic>
      <p:sp>
        <p:nvSpPr>
          <p:cNvPr id="154" name="Text 7"/>
          <p:cNvSpPr/>
          <p:nvPr/>
        </p:nvSpPr>
        <p:spPr>
          <a:xfrm>
            <a:off x="8544240" y="4293000"/>
            <a:ext cx="23162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GIT Y DOCUMENTACIÓN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8544240" y="4599360"/>
            <a:ext cx="24364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1000"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Control de versiones y README estructurado para revisión técnica.</a:t>
            </a:r>
            <a:endParaRPr b="0" lang="es-EC" sz="1200" spc="-1" strike="noStrike">
              <a:latin typeface="Arial"/>
            </a:endParaRPr>
          </a:p>
        </p:txBody>
      </p:sp>
      <p:pic>
        <p:nvPicPr>
          <p:cNvPr id="156" name="Image 4" descr="preencoded.png"/>
          <p:cNvPicPr/>
          <p:nvPr/>
        </p:nvPicPr>
        <p:blipFill>
          <a:blip r:embed="rId3"/>
          <a:stretch/>
        </p:blipFill>
        <p:spPr>
          <a:xfrm>
            <a:off x="4592520" y="2275920"/>
            <a:ext cx="2852640" cy="2852640"/>
          </a:xfrm>
          <a:prstGeom prst="rect">
            <a:avLst/>
          </a:prstGeom>
          <a:ln w="0">
            <a:noFill/>
          </a:ln>
        </p:spPr>
      </p:pic>
      <p:sp>
        <p:nvSpPr>
          <p:cNvPr id="157" name="Text 9"/>
          <p:cNvSpPr/>
          <p:nvPr/>
        </p:nvSpPr>
        <p:spPr>
          <a:xfrm>
            <a:off x="1721880" y="4295520"/>
            <a:ext cx="17715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55575a"/>
                </a:solidFill>
                <a:latin typeface="Hubot Sans Bold"/>
                <a:ea typeface="Hubot Sans Bold"/>
              </a:rPr>
              <a:t>DISEÑO UI</a:t>
            </a:r>
            <a:endParaRPr b="0" lang="es-EC" sz="1350" spc="-1" strike="noStrike"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1056960" y="4601880"/>
            <a:ext cx="243648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8000"/>
          </a:bodyPr>
          <a:p>
            <a:pPr algn="r"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75a"/>
                </a:solidFill>
                <a:latin typeface="Roboto Condensed"/>
                <a:ea typeface="Roboto Condensed"/>
              </a:rPr>
              <a:t>Construcción de interfaces XML centradas en la experiencia de usuario.</a:t>
            </a:r>
            <a:endParaRPr b="0" lang="es-EC" sz="1200" spc="-1" strike="noStrike">
              <a:latin typeface="Arial"/>
            </a:endParaRPr>
          </a:p>
        </p:txBody>
      </p:sp>
      <p:pic>
        <p:nvPicPr>
          <p:cNvPr id="159" name="Image 6" descr="preencoded.png"/>
          <p:cNvPicPr/>
          <p:nvPr/>
        </p:nvPicPr>
        <p:blipFill>
          <a:blip r:embed="rId4"/>
          <a:stretch/>
        </p:blipFill>
        <p:spPr>
          <a:xfrm>
            <a:off x="4592520" y="2275920"/>
            <a:ext cx="2852640" cy="285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  <Words>495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2026-06-26T05:08:26Z</dcterms:created>
  <dc:creator>JD H</dc:creator>
  <dc:description/>
  <dc:language>es-EC</dc:language>
  <cp:lastModifiedBy/>
  <dcterms:modified xsi:type="dcterms:W3CDTF">2026-06-26T00:29:47Z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9</vt:i4>
  </property>
</Properties>
</file>